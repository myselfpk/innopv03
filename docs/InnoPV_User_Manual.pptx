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62E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650992"/>
            <a:ext cx="12188952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</a:t>
            </a:r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Case Management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 for all user roles and system features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57607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5961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5961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1630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61630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PV Associate / PV Manager / Medical Reviewer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3642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63642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– For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– What We Will Cover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51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051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Introduction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4173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Rights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783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Authentication &amp; Security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148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51460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514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Inbox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8803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Case Creation &amp; Intake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246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Data Entry (All Sections)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611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3611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Workflow &amp; Actions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105156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051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02552" y="105156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Capture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141732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4173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02552" y="14173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Follow-Up, Duplicate Check, Case History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09360" y="178308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1783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02552" y="17830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 Management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214884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21488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02552" y="21488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SLA Alerts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309360" y="251460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2514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02552" y="25146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(Users, Masters, Checklists)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09360" y="288036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28803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02552" y="288036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Password Management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09360" y="324612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3246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02552" y="32461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Role-wise Feature Matrix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– What is InnoPV?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11521440" cy="7315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is a web-based Pharmacovigilance (PV) Case Management System for managing the complete lifecycle of adverse event cases – from initial intake to regulatory submission and final closure.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240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Intake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423160"/>
            <a:ext cx="45720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92024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17A589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240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423160"/>
            <a:ext cx="45720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92024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240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2423160"/>
            <a:ext cx="45720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192024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D4AC0D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240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0" y="2423160"/>
            <a:ext cx="45720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192024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9464040" y="2240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004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ICH E2B &amp; regulatory reporting standards compliance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58444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Multi-role structured workflow with quality checklists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96849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validity &amp; seriousness determination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35254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monitoring with automated email alerts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20040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audit trail (21 CFR Part 11 ready)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584448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Case reports in PDF, Word, and Excel formats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968496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detection and resolution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4352544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Regulatory submission tracking and acknowledgement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Overview – 4 Roles in InnoPV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743200" cy="5120640"/>
          </a:xfrm>
          <a:prstGeom prst="roundRect">
            <a:avLst>
              <a:gd name="adj" fmla="val 333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Admin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administrator access. Manages users, master data, and all cases.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2560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access to all modules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creation &amp; management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data management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Checklist configuration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 &amp; analytics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case operations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alert management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reports &amp; exports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5120640"/>
          </a:xfrm>
          <a:prstGeom prst="roundRect">
            <a:avLst>
              <a:gd name="adj" fmla="val 333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PV Associate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entry user. Creates and processes cases.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560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new PV cases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case data entry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check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 Associate checklist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to PV Manager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Follow-up management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 history &amp; audit trail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case report (PDF)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2743200" cy="5120640"/>
          </a:xfrm>
          <a:prstGeom prst="roundRect">
            <a:avLst>
              <a:gd name="adj" fmla="val 333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PV Manager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 case quality and manages regulatory submissions.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2560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 review &amp; assignment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 Manager checklist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 to Medical Reviewer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to PV Associate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submissions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alert management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 reports &amp; CSV export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 closure validation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35440" y="1051560"/>
            <a:ext cx="2743200" cy="5120640"/>
          </a:xfrm>
          <a:prstGeom prst="roundRect">
            <a:avLst>
              <a:gd name="adj" fmla="val 3333"/>
            </a:avLst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Medical Reviewer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medical review and approval of cases.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0" y="1874520"/>
            <a:ext cx="2560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review of cases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Reviewer checklist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Medically approve cases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cases to PV Manager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&amp; enter follow-ups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submissions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case reports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 history &amp; audit trail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486400" cy="52120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Login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572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InnoPV in your web browser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76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1762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registered Email address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27797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Password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check "Remember Me"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86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39867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Login button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90288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90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" y="45902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to role-specific Dashboard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256032" cy="25603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193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" y="5193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login: forced password change before any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1005840"/>
            <a:ext cx="5760720" cy="521208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63640" y="157276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D4AC0D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5727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15727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after multiple wrong password attempts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12140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D4AC0D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121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21214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login with admin contact message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267004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D4AC0D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2670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Login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2670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password change on first login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321868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D4AC0D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75320" y="32186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forms protected against CSRF attacks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76732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D4AC0D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37673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3767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password must differ from current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431596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D4AC0D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4315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75320" y="4315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via email reset link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486460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D4AC0D"/>
          </a:solidFill>
          <a:ln/>
        </p:spPr>
      </p:sp>
      <p:sp>
        <p:nvSpPr>
          <p:cNvPr id="51" name="Text 49"/>
          <p:cNvSpPr/>
          <p:nvPr/>
        </p:nvSpPr>
        <p:spPr>
          <a:xfrm>
            <a:off x="6263640" y="4864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Security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75320" y="4864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Cookie-based; expires on logout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63640" y="541324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D4AC0D"/>
          </a:solidFill>
          <a:ln/>
        </p:spPr>
      </p:sp>
      <p:sp>
        <p:nvSpPr>
          <p:cNvPr id="54" name="Text 52"/>
          <p:cNvSpPr/>
          <p:nvPr/>
        </p:nvSpPr>
        <p:spPr>
          <a:xfrm>
            <a:off x="6263640" y="5413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75320" y="5413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 option on trusted devices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Role-Specific Views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/ Open / Closed cases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Cases by status (chart)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&amp; active users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by role (chart)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Recent 8 cases &amp; users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Overdue case count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Manager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Cases pending review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Forwarded cases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Overdue &amp; SLA status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case trends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Serious / Non-Serious split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 / Invalid split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Associate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 assigned cases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Cases by status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cases pending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Cases due in 7 days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Returned cases pending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235440" y="10515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Reviewer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1463040"/>
            <a:ext cx="2560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Cases pending review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Medically approved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Returned to PV Mgr</a:t>
            </a:r>
            <a:endParaRPr lang="en-US" sz="950" dirty="0"/>
          </a:p>
          <a:p>
            <a:pPr>
              <a:spcBef>
                <a:spcPts val="200"/>
              </a:spcBef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SLA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572000"/>
            <a:ext cx="11521440" cy="1554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PV Analytics Dashboard (All Roles)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983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 / Open / Closed cases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5303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Serious vs Non-Serious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5623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 vs Invalid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Overdue cases count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4983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Due Soon (next 7 days)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5303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receipt trend (12 months)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0" y="5623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Cases by assigned role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Inbox – Your Personalized Case Queue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Inbox shows only cases relevant to your role and assignment. Each role sees different statuses.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08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56232"/>
            <a:ext cx="2834640" cy="416052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56232"/>
            <a:ext cx="54864" cy="4160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" y="1920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cases in the system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" y="2340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filter applied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" y="2761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visibility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50876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508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Associate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856232"/>
            <a:ext cx="2834640" cy="416052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1856232"/>
            <a:ext cx="54864" cy="41605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3419856" y="1920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19856" y="2340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DataEntryInProgress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9856" y="2761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ValidityPending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19856" y="3182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InvalidFollowUpRequired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19856" y="36027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DuplicateCheckPending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19856" y="4023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PvAssociateChecklistPending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19856" y="44439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ReturnedByPvManager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19856" y="48646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AdditionalInformationRequired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19856" y="52852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Reopened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150876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1E8449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508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Manager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1856232"/>
            <a:ext cx="2834640" cy="416052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1856232"/>
            <a:ext cx="54864" cy="41605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656" y="1920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SubmittedToPvManager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91656" y="2340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PvManagerReviewPending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91656" y="2761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PvManagerChecklistPending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91656" y="3182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ResubmittedToPvManager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91656" y="36027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ReturnedByMedicalReviewer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235440" y="150876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D4AC0D"/>
          </a:solidFill>
          <a:ln/>
        </p:spPr>
      </p:sp>
      <p:sp>
        <p:nvSpPr>
          <p:cNvPr id="38" name="Text 36"/>
          <p:cNvSpPr/>
          <p:nvPr/>
        </p:nvSpPr>
        <p:spPr>
          <a:xfrm>
            <a:off x="9235440" y="1508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Reviewer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35440" y="1856232"/>
            <a:ext cx="2834640" cy="416052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1856232"/>
            <a:ext cx="54864" cy="416052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41" name="Text 39"/>
          <p:cNvSpPr/>
          <p:nvPr/>
        </p:nvSpPr>
        <p:spPr>
          <a:xfrm>
            <a:off x="9363456" y="1920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ForwardedToMedicalReviewer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63456" y="2340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MedicalReviewPending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363456" y="2761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MedicalReviewerChecklistPending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63456" y="3182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MedicallyApproved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Case Creation – Intake 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 &amp; PV Associate only  |  Navigate to: PV Cases → New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5943600" cy="41148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 Fields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Case Source (dropdown)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Receipt Date (≤ today)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Initial Reporter Name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Patient Identifier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Suspect Product Name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Adverse Event Term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 Patient Identifiable? (Y/N)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 Reporter Identifiable? (Y/N)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Suspect Product Available? (Y/N)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Adverse Event Available? (Y/N)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 Serious? (Y/N)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Narrative (free text)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1417320"/>
            <a:ext cx="5394960" cy="1920240"/>
          </a:xfrm>
          <a:prstGeom prst="rect">
            <a:avLst/>
          </a:prstGeom>
          <a:solidFill>
            <a:srgbClr val="EA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Validity Logic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1901952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is VALID if ALL 4 criteria are met: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Patient Identifiable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Reporter Identifiable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Suspect Product Available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Adverse Event Available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3520440"/>
            <a:ext cx="5394960" cy="201168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Due Date Calculation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40233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SERIOUS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Date + 7 Days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72600" y="40233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9372600" y="4023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NON-SERIOUS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Date + 15 Days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4937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No is auto-generated. Status = DataEntryInProgress (valid) or InvalidFollowUpRequired.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Data Entry – 7 Sections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intake, all case data is entered across 7 sections. All roles can VIEW data. Edit allowed only while case is in active processing states.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1554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1901952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Initials, ID, DOB, Age, Gender, Weight, Height, Pregnancy, Medical History, Allergies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614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7A58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761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27614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Details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" y="3108960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Type, Organization, Contact (Phone/Email/Fax), Is Prescriber?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96849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968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" y="39684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Product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4315968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Batch No, Indication, Route, Dose, Frequency, Start/Stop Date, Action Taken, Rechallenge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517550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5175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51755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" y="5522976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Term, Description, Onset/Resolution Date, Outcome, Seriousness, Causality, Severity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D4AC0D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02552" y="1554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Concomitant Meds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02552" y="1901952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Name, Indication, Dose, Route, Frequency, Start/Stop 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7614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8E44AD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761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02552" y="27614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Details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2552" y="3108960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Name, Date, Result Value, Unit, Normal Range, Interpretation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396849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968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02552" y="39684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02552" y="4315968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supporting documents. File type, original name, uploader, date recorded securely.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Workflow – Step by 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lifecycle from creation to closure across 4 roles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463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0" y="1965960"/>
            <a:ext cx="32004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1463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0876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97480" y="1965960"/>
            <a:ext cx="32004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1463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23360" y="1965960"/>
            <a:ext cx="32004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1463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6052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49240" y="1965960"/>
            <a:ext cx="32004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463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2E86C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Manager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1965960"/>
            <a:ext cx="32004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1463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1E8449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 Review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4944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Mgr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38160" y="1965960"/>
            <a:ext cx="32004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1463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1E8449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Med.Rev.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1248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Mgr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601200" y="1965960"/>
            <a:ext cx="32004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75520" y="1463040"/>
            <a:ext cx="1188720" cy="1005840"/>
          </a:xfrm>
          <a:prstGeom prst="roundRect">
            <a:avLst>
              <a:gd name="adj" fmla="val 10909"/>
            </a:avLst>
          </a:prstGeom>
          <a:solidFill>
            <a:srgbClr val="D4AC0D"/>
          </a:solidFill>
          <a:ln/>
        </p:spPr>
      </p:sp>
      <p:sp>
        <p:nvSpPr>
          <p:cNvPr id="44" name="Text 42"/>
          <p:cNvSpPr/>
          <p:nvPr/>
        </p:nvSpPr>
        <p:spPr>
          <a:xfrm>
            <a:off x="987552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7552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87552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Med.Rev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2880" y="292608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D4AC0D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288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Return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82880" y="3675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Med.Rev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828800" y="3474720"/>
            <a:ext cx="36576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11680" y="292608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1E8449"/>
          </a:solidFill>
          <a:ln/>
        </p:spPr>
      </p:sp>
      <p:sp>
        <p:nvSpPr>
          <p:cNvPr id="53" name="Text 51"/>
          <p:cNvSpPr/>
          <p:nvPr/>
        </p:nvSpPr>
        <p:spPr>
          <a:xfrm>
            <a:off x="201168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01168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Case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011680" y="3675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Mgr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0" y="3474720"/>
            <a:ext cx="36576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40480" y="292608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/>
        </p:spPr>
      </p:sp>
      <p:sp>
        <p:nvSpPr>
          <p:cNvPr id="58" name="Text 56"/>
          <p:cNvSpPr/>
          <p:nvPr/>
        </p:nvSpPr>
        <p:spPr>
          <a:xfrm>
            <a:off x="384048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84048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Submission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840480" y="3675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Mgr / Med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0" y="3474720"/>
            <a:ext cx="365760" cy="0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52160" y="292608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/>
        </p:spPr>
      </p:sp>
      <p:sp>
        <p:nvSpPr>
          <p:cNvPr id="63" name="Text 61"/>
          <p:cNvSpPr/>
          <p:nvPr/>
        </p:nvSpPr>
        <p:spPr>
          <a:xfrm>
            <a:off x="585216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85216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Closure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852160" y="3675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Mgr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772400" y="2743200"/>
            <a:ext cx="4206240" cy="33832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7" name="Text 65"/>
          <p:cNvSpPr/>
          <p:nvPr/>
        </p:nvSpPr>
        <p:spPr>
          <a:xfrm>
            <a:off x="790956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Paths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909560" y="32461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PV Manager → Return to PV Associate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with correction comments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909560" y="39959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Medical Reviewer → Return to PV Manager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with medical review comments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909560" y="474573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Admin can reopen closed cases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909560" y="549554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Cases can be marked as Duplicate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or Invalid at any stage (by authorized users)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Checklists – Role-Based Quality Gates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are mandatory quality gates at each workflow stage. Configured by Admin. All mandatory items must be checked before advancing.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Associate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3749040" cy="34747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Before submit to PV Manager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3749040" cy="28346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3591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359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0664" y="23591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 verification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620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62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" y="28620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criteria confirmed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364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 done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86791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" y="38679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mandatory sections filled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3708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" y="43708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complete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0" y="150876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1E8449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Manager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1920240"/>
            <a:ext cx="3749040" cy="34747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Before forwarding to Medical Reviewer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2267712"/>
            <a:ext cx="3749040" cy="28346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0" y="23591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8449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2359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18304" y="23591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data quality review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89120" y="28620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8449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2862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28620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assessment reviewed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89120" y="33649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8449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0" y="3364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Seriousness criteria verified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389120" y="386791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0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18304" y="38679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timeline compliance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89120" y="43708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8449"/>
          </a:solidFill>
          <a:ln/>
        </p:spPr>
      </p:sp>
      <p:sp>
        <p:nvSpPr>
          <p:cNvPr id="46" name="Text 44"/>
          <p:cNvSpPr/>
          <p:nvPr/>
        </p:nvSpPr>
        <p:spPr>
          <a:xfrm>
            <a:off x="4389120" y="4370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18304" y="43708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complete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75320" y="150876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D4AC0D"/>
          </a:solidFill>
          <a:ln/>
        </p:spPr>
      </p:sp>
      <p:sp>
        <p:nvSpPr>
          <p:cNvPr id="49" name="Text 47"/>
          <p:cNvSpPr/>
          <p:nvPr/>
        </p:nvSpPr>
        <p:spPr>
          <a:xfrm>
            <a:off x="827532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Reviewer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275320" y="1920240"/>
            <a:ext cx="3749040" cy="34747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1" name="Text 49"/>
          <p:cNvSpPr/>
          <p:nvPr/>
        </p:nvSpPr>
        <p:spPr>
          <a:xfrm>
            <a:off x="836676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Before medical approval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275320" y="2267712"/>
            <a:ext cx="3749040" cy="28346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53" name="Shape 51"/>
          <p:cNvSpPr/>
          <p:nvPr/>
        </p:nvSpPr>
        <p:spPr>
          <a:xfrm>
            <a:off x="8366760" y="23591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4AC0D"/>
          </a:solidFill>
          <a:ln/>
        </p:spPr>
      </p:sp>
      <p:sp>
        <p:nvSpPr>
          <p:cNvPr id="54" name="Text 52"/>
          <p:cNvSpPr/>
          <p:nvPr/>
        </p:nvSpPr>
        <p:spPr>
          <a:xfrm>
            <a:off x="8366760" y="2359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695944" y="23591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accuracy verified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366760" y="286207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4AC0D"/>
          </a:solidFill>
          <a:ln/>
        </p:spPr>
      </p:sp>
      <p:sp>
        <p:nvSpPr>
          <p:cNvPr id="57" name="Text 55"/>
          <p:cNvSpPr/>
          <p:nvPr/>
        </p:nvSpPr>
        <p:spPr>
          <a:xfrm>
            <a:off x="8366760" y="2862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695944" y="28620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and terms reviewed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366760" y="33649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4AC0D"/>
          </a:solidFill>
          <a:ln/>
        </p:spPr>
      </p:sp>
      <p:sp>
        <p:nvSpPr>
          <p:cNvPr id="60" name="Text 58"/>
          <p:cNvSpPr/>
          <p:nvPr/>
        </p:nvSpPr>
        <p:spPr>
          <a:xfrm>
            <a:off x="8366760" y="3364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695944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narrative reviewed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366760" y="386791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4AC0D"/>
          </a:solidFill>
          <a:ln/>
        </p:spPr>
      </p:sp>
      <p:sp>
        <p:nvSpPr>
          <p:cNvPr id="63" name="Text 61"/>
          <p:cNvSpPr/>
          <p:nvPr/>
        </p:nvSpPr>
        <p:spPr>
          <a:xfrm>
            <a:off x="8366760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695944" y="38679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assessment confirmed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366760" y="43708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4AC0D"/>
          </a:solidFill>
          <a:ln/>
        </p:spPr>
      </p:sp>
      <p:sp>
        <p:nvSpPr>
          <p:cNvPr id="66" name="Text 64"/>
          <p:cNvSpPr/>
          <p:nvPr/>
        </p:nvSpPr>
        <p:spPr>
          <a:xfrm>
            <a:off x="8366760" y="4370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695944" y="43708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criteria met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20040" y="5349240"/>
            <a:ext cx="11521440" cy="77724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Checklist Versioning: Admin can create new versions with an Effective From date. System always uses the latest active version. Historical responses are preserved with the checklist version for full audit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Follow-Up, Duplicate Check &amp; Case History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3794760" cy="52120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005840"/>
            <a:ext cx="379476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332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Case Follow-Up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All 4 roles can add follow-ups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Auto-numbered: FU-001, FU-002...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816352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Fields: Receipt Date, Source, Received From, Description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483864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Cannot add to Duplicate/Invalid cases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151376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Mark as Processed with remarks when case updated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81888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Full follow-up history preserved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1005840"/>
            <a:ext cx="3794760" cy="521208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1005840"/>
            <a:ext cx="3794760" cy="3657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0332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Duplicate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148132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Access: Admin, PV Associate, PV Manager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21488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System matches: Patient ID + Product + Event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34840" y="2816352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Reviews potential duplicate case list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34840" y="3483864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View each candidate case before decision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34840" y="4151376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Mark as Duplicate → links to original case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481888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"No Duplicate" → proceed to checklist stage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34840" y="54864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Duplicate cases archived, not deleted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66760" y="1005840"/>
            <a:ext cx="3794760" cy="52120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6760" y="1005840"/>
            <a:ext cx="379476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10332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Case History &amp; Audit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148132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All roles can view case history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58200" y="21488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Workflow Comments: action, from/to role, timestamp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58200" y="2816352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Every field change recorded in Audit Trail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58200" y="3483864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Old value → New value tracked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58200" y="4151376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Performed by + exact timestamp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58200" y="481888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21 CFR Part 11 compliant audit trail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58200" y="54864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Cannot be edited or deleted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Admin, PV Manager, Medical Reviewer  |  After case is MedicallyApproved / CaseFinalized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5943600" cy="46634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Fields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5943600" cy="420624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476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Type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06040" y="1947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15-Day Expedited, Periodic, Annual Safety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5943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3865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Authority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23865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CDSCO, FDA, EMA, WHO, NCA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98064"/>
            <a:ext cx="5943600" cy="420624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254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Format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28254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E2B(XML), MedWatch, CIOMS, NCA Form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5943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2644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32644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 deadline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675888"/>
            <a:ext cx="5943600" cy="420624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03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Date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06040" y="3703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date submission was sent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5943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1422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Date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06040" y="4142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authority confirmed receipt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553712"/>
            <a:ext cx="5943600" cy="420624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5811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06040" y="4581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acknowledgement reference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992624"/>
            <a:ext cx="5943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50200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06040" y="5020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submission document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5431536"/>
            <a:ext cx="5943600" cy="420624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54589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06040" y="5458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92240" y="1417320"/>
            <a:ext cx="5394960" cy="46634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Status Flow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29400" y="196596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D4AC0D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Pending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26680" y="2313432"/>
            <a:ext cx="0" cy="310896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1540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created, not yet submitted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9400" y="262432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2E86C1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2624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726680" y="2971800"/>
            <a:ext cx="0" cy="310896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15400" y="2670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regulatory authority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29400" y="3282696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8E44AD"/>
          </a:solidFill>
          <a:ln/>
        </p:spPr>
      </p:sp>
      <p:sp>
        <p:nvSpPr>
          <p:cNvPr id="48" name="Text 46"/>
          <p:cNvSpPr/>
          <p:nvPr/>
        </p:nvSpPr>
        <p:spPr>
          <a:xfrm>
            <a:off x="6629400" y="32826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Pending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726680" y="3630168"/>
            <a:ext cx="0" cy="310896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15400" y="3328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authority confirmation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9400" y="3941064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E8449"/>
          </a:solidFill>
          <a:ln/>
        </p:spPr>
      </p:sp>
      <p:sp>
        <p:nvSpPr>
          <p:cNvPr id="52" name="Text 50"/>
          <p:cNvSpPr/>
          <p:nvPr/>
        </p:nvSpPr>
        <p:spPr>
          <a:xfrm>
            <a:off x="6629400" y="39410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Received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726680" y="4288536"/>
            <a:ext cx="0" cy="310896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15400" y="3986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confirmed receipt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629400" y="4599432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74C3C"/>
          </a:solidFill>
          <a:ln/>
        </p:spPr>
      </p:sp>
      <p:sp>
        <p:nvSpPr>
          <p:cNvPr id="56" name="Text 54"/>
          <p:cNvSpPr/>
          <p:nvPr/>
        </p:nvSpPr>
        <p:spPr>
          <a:xfrm>
            <a:off x="6629400" y="45994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726680" y="4946904"/>
            <a:ext cx="0" cy="310896"/>
          </a:xfrm>
          <a:prstGeom prst="line">
            <a:avLst/>
          </a:prstGeom>
          <a:noFill/>
          <a:ln w="19050">
            <a:solidFill>
              <a:srgbClr val="95A5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15400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Rejected; requires resubmission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9400" y="525780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7F8C8D"/>
          </a:solidFill>
          <a:ln/>
        </p:spPr>
      </p:sp>
      <p:sp>
        <p:nvSpPr>
          <p:cNvPr id="60" name="Text 58"/>
          <p:cNvSpPr/>
          <p:nvPr/>
        </p:nvSpPr>
        <p:spPr>
          <a:xfrm>
            <a:off x="6629400" y="5257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91540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cancelled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SLA Alerts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486400" cy="52120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0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332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Reports (Admin + PV Manager)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521208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08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by: date range, status, seriousness, validity, product, event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Summary: Total, Valid, Invalid, Serious, Non-Serious, Closed, Overdue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to CSV (timestamped filename)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212080" cy="2926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92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 Report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by: Case No, type, authority, status, date range, overdue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Stats: Total, Pending, Submitted, Ack.Pending, Received, Overdue, Rejected, Cancelled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06908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to CSV (timestamped filename)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5212080" cy="2926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07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Case Report (All Roles)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84632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full case details in PDF, Word (DOCX), or Excel (XLSX)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212080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all sections: patient, reporter, product, event, labs, etc.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5760720" cy="521208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005840"/>
            <a:ext cx="5760720" cy="384048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03327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SLA Alerts (Admin + PV Manager)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15087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EBF5FB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508760"/>
            <a:ext cx="73152" cy="123444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57276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Soon Alerts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192024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due within next 3 days.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reminder email to assigned user + PV Managers.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9260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EBF5F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2926080"/>
            <a:ext cx="73152" cy="1234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299008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Alerts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333756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whose due date has passed.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escalation email for urgent action.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EBF5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343400"/>
            <a:ext cx="73152" cy="12344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40740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All Alerts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46520" y="475488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both Due Soon and Overdue in a single batch operation.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5760720"/>
            <a:ext cx="57607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5806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Email alerts include: Case No, Product, Event, Due Date, Current Status, Assigned User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– User &amp; System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Admin panel modules are accessible ONLY to the Admin role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657600" cy="470916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417320"/>
            <a:ext cx="3657600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72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Management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801368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801368"/>
            <a:ext cx="54864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" y="1837944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users with role, status, lockout info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3657600" cy="62179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423160"/>
            <a:ext cx="54864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2459736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users (auto temp password)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044952"/>
            <a:ext cx="54864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" y="3081528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credentials by email to new user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66744"/>
            <a:ext cx="3657600" cy="62179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666744"/>
            <a:ext cx="54864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" y="3703320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Edit: name, mobile, designation, role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288536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4288536"/>
            <a:ext cx="54864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" y="4325112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Deactivate user accounts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910328"/>
            <a:ext cx="3657600" cy="62179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4910328"/>
            <a:ext cx="54864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" y="4946904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locked accounts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5532120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5532120"/>
            <a:ext cx="54864" cy="6217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" y="5568696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user passwords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60520" y="1417320"/>
            <a:ext cx="3657600" cy="470916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3" name="Shape 31"/>
          <p:cNvSpPr/>
          <p:nvPr/>
        </p:nvSpPr>
        <p:spPr>
          <a:xfrm>
            <a:off x="4160520" y="1417320"/>
            <a:ext cx="365760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4" name="Text 32"/>
          <p:cNvSpPr/>
          <p:nvPr/>
        </p:nvSpPr>
        <p:spPr>
          <a:xfrm>
            <a:off x="4251960" y="1472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Master Data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160520" y="1801368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160520" y="1801368"/>
            <a:ext cx="54864" cy="62179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7" name="Text 35"/>
          <p:cNvSpPr/>
          <p:nvPr/>
        </p:nvSpPr>
        <p:spPr>
          <a:xfrm>
            <a:off x="4288536" y="1837944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Masters: Reporter Type, Outcome, Route, Frequency, Causality, Severity, Case Source, Action Taken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60520" y="2423160"/>
            <a:ext cx="3657600" cy="62179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9" name="Shape 37"/>
          <p:cNvSpPr/>
          <p:nvPr/>
        </p:nvSpPr>
        <p:spPr>
          <a:xfrm>
            <a:off x="4160520" y="2423160"/>
            <a:ext cx="54864" cy="62179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0" name="Text 38"/>
          <p:cNvSpPr/>
          <p:nvPr/>
        </p:nvSpPr>
        <p:spPr>
          <a:xfrm>
            <a:off x="4288536" y="2459736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Master: Product catalogue with details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60520" y="3044952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160520" y="3044952"/>
            <a:ext cx="54864" cy="62179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3" name="Text 41"/>
          <p:cNvSpPr/>
          <p:nvPr/>
        </p:nvSpPr>
        <p:spPr>
          <a:xfrm>
            <a:off x="4288536" y="3081528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Master: Clinical study records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60520" y="3666744"/>
            <a:ext cx="3657600" cy="62179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45" name="Shape 43"/>
          <p:cNvSpPr/>
          <p:nvPr/>
        </p:nvSpPr>
        <p:spPr>
          <a:xfrm>
            <a:off x="4160520" y="3666744"/>
            <a:ext cx="54864" cy="62179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6" name="Text 44"/>
          <p:cNvSpPr/>
          <p:nvPr/>
        </p:nvSpPr>
        <p:spPr>
          <a:xfrm>
            <a:off x="4288536" y="3703320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Master: Pharma sponsor information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60520" y="4288536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160520" y="4288536"/>
            <a:ext cx="54864" cy="62179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9" name="Text 47"/>
          <p:cNvSpPr/>
          <p:nvPr/>
        </p:nvSpPr>
        <p:spPr>
          <a:xfrm>
            <a:off x="4288536" y="4325112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masters: Create, Edit, Activate/Deactivate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01000" y="1417320"/>
            <a:ext cx="3657600" cy="470916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1417320"/>
            <a:ext cx="3657600" cy="3840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2" name="Text 50"/>
          <p:cNvSpPr/>
          <p:nvPr/>
        </p:nvSpPr>
        <p:spPr>
          <a:xfrm>
            <a:off x="8092440" y="1472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Checklist Management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001000" y="1801368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8001000" y="1801368"/>
            <a:ext cx="54864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5" name="Text 53"/>
          <p:cNvSpPr/>
          <p:nvPr/>
        </p:nvSpPr>
        <p:spPr>
          <a:xfrm>
            <a:off x="8129016" y="1837944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Checklist Master per Role + Stage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01000" y="2423160"/>
            <a:ext cx="3657600" cy="62179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57" name="Shape 55"/>
          <p:cNvSpPr/>
          <p:nvPr/>
        </p:nvSpPr>
        <p:spPr>
          <a:xfrm>
            <a:off x="8001000" y="2423160"/>
            <a:ext cx="54864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8" name="Text 56"/>
          <p:cNvSpPr/>
          <p:nvPr/>
        </p:nvSpPr>
        <p:spPr>
          <a:xfrm>
            <a:off x="8129016" y="2459736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version number &amp; effective date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01000" y="3044952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3044952"/>
            <a:ext cx="54864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1" name="Text 59"/>
          <p:cNvSpPr/>
          <p:nvPr/>
        </p:nvSpPr>
        <p:spPr>
          <a:xfrm>
            <a:off x="8129016" y="3081528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Add/Edit/Reorder checklist items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001000" y="3666744"/>
            <a:ext cx="3657600" cy="62179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63" name="Shape 61"/>
          <p:cNvSpPr/>
          <p:nvPr/>
        </p:nvSpPr>
        <p:spPr>
          <a:xfrm>
            <a:off x="8001000" y="3666744"/>
            <a:ext cx="54864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4" name="Text 62"/>
          <p:cNvSpPr/>
          <p:nvPr/>
        </p:nvSpPr>
        <p:spPr>
          <a:xfrm>
            <a:off x="8129016" y="3703320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items as Mandatory or Optional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01000" y="4288536"/>
            <a:ext cx="3657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001000" y="4288536"/>
            <a:ext cx="54864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7" name="Text 65"/>
          <p:cNvSpPr/>
          <p:nvPr/>
        </p:nvSpPr>
        <p:spPr>
          <a:xfrm>
            <a:off x="8129016" y="4325112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maintain history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001000" y="4910328"/>
            <a:ext cx="3657600" cy="621792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69" name="Shape 67"/>
          <p:cNvSpPr/>
          <p:nvPr/>
        </p:nvSpPr>
        <p:spPr>
          <a:xfrm>
            <a:off x="8001000" y="4910328"/>
            <a:ext cx="54864" cy="6217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70" name="Text 68"/>
          <p:cNvSpPr/>
          <p:nvPr/>
        </p:nvSpPr>
        <p:spPr>
          <a:xfrm>
            <a:off x="8129016" y="4946904"/>
            <a:ext cx="3438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Activate/Deactivate checklist versions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Password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486400" cy="52120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0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332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My Profile (All Roles)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Access via top navigation → My 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View: Full Name, Email, Mobile, Designation, Department, Role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Profile is read-only; updates done by Admin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Shows current role assignment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Shows MustChangePassword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21208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42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Change Password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171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Current Password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9011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Enter New Password (must differ from current)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2852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 New Password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Change Password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5760720" cy="521208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05840"/>
            <a:ext cx="5760720" cy="384048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03327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Forgot Password (Self-Service)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536192"/>
            <a:ext cx="256032" cy="256032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536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11112" y="153619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"Forgot Password?" on login page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2130552"/>
            <a:ext cx="256032" cy="256032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130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11112" y="213055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registered email address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2724912"/>
            <a:ext cx="256032" cy="256032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724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11112" y="272491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time-limited reset link is sent to your email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3319272"/>
            <a:ext cx="256032" cy="256032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319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11112" y="331927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in the email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913632"/>
            <a:ext cx="256032" cy="256032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913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11112" y="391363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 confirm new password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4507992"/>
            <a:ext cx="256032" cy="256032"/>
          </a:xfrm>
          <a:prstGeom prst="ellipse">
            <a:avLst/>
          </a:prstGeom>
          <a:solidFill>
            <a:srgbClr val="D4AC0D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4507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11112" y="450799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the new password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5349240"/>
            <a:ext cx="5394960" cy="68580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43" name="Shape 41"/>
          <p:cNvSpPr/>
          <p:nvPr/>
        </p:nvSpPr>
        <p:spPr>
          <a:xfrm>
            <a:off x="6263640" y="5349240"/>
            <a:ext cx="54864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4" name="Text 42"/>
          <p:cNvSpPr/>
          <p:nvPr/>
        </p:nvSpPr>
        <p:spPr>
          <a:xfrm>
            <a:off x="6419088" y="5376672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First Login: Forced password change. Cannot access any other page until new password is set.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Role-wise Feature Matrix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= Full Access   Read = View Only   ✘ = No 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47472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94760" y="1417320"/>
            <a:ext cx="1920240" cy="2926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417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15000" y="1417320"/>
            <a:ext cx="1920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417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1417320"/>
            <a:ext cx="1920240" cy="2926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1417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Mgr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55480" y="1417320"/>
            <a:ext cx="1920240" cy="292608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417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Med.Rev.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709928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7282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Profile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94760" y="170992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7282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15000" y="170992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17282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35240" y="170992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7282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55480" y="170992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17282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1929384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19476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94760" y="192938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1947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(Admin)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15000" y="192938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1947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(Assoc)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35240" y="192938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1947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(Mgr)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555480" y="192938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0" y="1947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(Med)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2148840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1671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Analytics Dashboard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94760" y="2148840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0" y="2167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15000" y="2148840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43" name="Text 41"/>
          <p:cNvSpPr/>
          <p:nvPr/>
        </p:nvSpPr>
        <p:spPr>
          <a:xfrm>
            <a:off x="5760720" y="2167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35240" y="2148840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2167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555480" y="2148840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0" y="21671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2368296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238658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Inbox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794760" y="2368296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840480" y="2386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715000" y="2368296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760720" y="2386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Own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635240" y="2368296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7680960" y="2386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Stage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555480" y="2368296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9601200" y="2386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Stage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20040" y="2587752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26060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Case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794760" y="2587752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61" name="Text 59"/>
          <p:cNvSpPr/>
          <p:nvPr/>
        </p:nvSpPr>
        <p:spPr>
          <a:xfrm>
            <a:off x="384048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715000" y="2587752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63" name="Text 61"/>
          <p:cNvSpPr/>
          <p:nvPr/>
        </p:nvSpPr>
        <p:spPr>
          <a:xfrm>
            <a:off x="576072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635240" y="2587752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65" name="Text 63"/>
          <p:cNvSpPr/>
          <p:nvPr/>
        </p:nvSpPr>
        <p:spPr>
          <a:xfrm>
            <a:off x="768096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555480" y="2587752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67" name="Text 65"/>
          <p:cNvSpPr/>
          <p:nvPr/>
        </p:nvSpPr>
        <p:spPr>
          <a:xfrm>
            <a:off x="960120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20040" y="2807208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282549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Data Entry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794760" y="2807208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3840480" y="28254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715000" y="2807208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5760720" y="28254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635240" y="2807208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7680960" y="28254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555480" y="2807208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9601200" y="28254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20040" y="3026664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30449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794760" y="3026664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81" name="Text 79"/>
          <p:cNvSpPr/>
          <p:nvPr/>
        </p:nvSpPr>
        <p:spPr>
          <a:xfrm>
            <a:off x="3840480" y="3044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715000" y="3026664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83" name="Text 81"/>
          <p:cNvSpPr/>
          <p:nvPr/>
        </p:nvSpPr>
        <p:spPr>
          <a:xfrm>
            <a:off x="5760720" y="3044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635240" y="3026664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85" name="Text 83"/>
          <p:cNvSpPr/>
          <p:nvPr/>
        </p:nvSpPr>
        <p:spPr>
          <a:xfrm>
            <a:off x="7680960" y="3044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9555480" y="3026664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87" name="Text 85"/>
          <p:cNvSpPr/>
          <p:nvPr/>
        </p:nvSpPr>
        <p:spPr>
          <a:xfrm>
            <a:off x="9601200" y="3044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320040" y="3246120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365760" y="326440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Assoc. Checklist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794760" y="3246120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3840480" y="3264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5715000" y="3246120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5760720" y="3264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7635240" y="3246120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7680960" y="3264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9555480" y="3246120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9601200" y="3264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320040" y="3465576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99" name="Text 97"/>
          <p:cNvSpPr/>
          <p:nvPr/>
        </p:nvSpPr>
        <p:spPr>
          <a:xfrm>
            <a:off x="365760" y="34838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Manager Checklist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794760" y="3465576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01" name="Text 99"/>
          <p:cNvSpPr/>
          <p:nvPr/>
        </p:nvSpPr>
        <p:spPr>
          <a:xfrm>
            <a:off x="384048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715000" y="3465576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03" name="Text 101"/>
          <p:cNvSpPr/>
          <p:nvPr/>
        </p:nvSpPr>
        <p:spPr>
          <a:xfrm>
            <a:off x="576072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7635240" y="3465576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05" name="Text 103"/>
          <p:cNvSpPr/>
          <p:nvPr/>
        </p:nvSpPr>
        <p:spPr>
          <a:xfrm>
            <a:off x="768096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9555480" y="3465576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07" name="Text 105"/>
          <p:cNvSpPr/>
          <p:nvPr/>
        </p:nvSpPr>
        <p:spPr>
          <a:xfrm>
            <a:off x="960120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320040" y="3685032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7"/>
          <p:cNvSpPr/>
          <p:nvPr/>
        </p:nvSpPr>
        <p:spPr>
          <a:xfrm>
            <a:off x="365760" y="37033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 Reviewer Checklist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3794760" y="3685032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9"/>
          <p:cNvSpPr/>
          <p:nvPr/>
        </p:nvSpPr>
        <p:spPr>
          <a:xfrm>
            <a:off x="384048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5715000" y="3685032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1"/>
          <p:cNvSpPr/>
          <p:nvPr/>
        </p:nvSpPr>
        <p:spPr>
          <a:xfrm>
            <a:off x="576072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7635240" y="3685032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3"/>
          <p:cNvSpPr/>
          <p:nvPr/>
        </p:nvSpPr>
        <p:spPr>
          <a:xfrm>
            <a:off x="768096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9555480" y="3685032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0120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320040" y="3904488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19" name="Text 117"/>
          <p:cNvSpPr/>
          <p:nvPr/>
        </p:nvSpPr>
        <p:spPr>
          <a:xfrm>
            <a:off x="365760" y="39227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Follow-Up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3794760" y="390448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21" name="Text 119"/>
          <p:cNvSpPr/>
          <p:nvPr/>
        </p:nvSpPr>
        <p:spPr>
          <a:xfrm>
            <a:off x="3840480" y="39227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5715000" y="390448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23" name="Text 121"/>
          <p:cNvSpPr/>
          <p:nvPr/>
        </p:nvSpPr>
        <p:spPr>
          <a:xfrm>
            <a:off x="5760720" y="39227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7635240" y="390448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25" name="Text 123"/>
          <p:cNvSpPr/>
          <p:nvPr/>
        </p:nvSpPr>
        <p:spPr>
          <a:xfrm>
            <a:off x="7680960" y="39227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9555480" y="390448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27" name="Text 125"/>
          <p:cNvSpPr/>
          <p:nvPr/>
        </p:nvSpPr>
        <p:spPr>
          <a:xfrm>
            <a:off x="9601200" y="39227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320040" y="4123944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7"/>
          <p:cNvSpPr/>
          <p:nvPr/>
        </p:nvSpPr>
        <p:spPr>
          <a:xfrm>
            <a:off x="365760" y="41422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Assignment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3794760" y="412394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9"/>
          <p:cNvSpPr/>
          <p:nvPr/>
        </p:nvSpPr>
        <p:spPr>
          <a:xfrm>
            <a:off x="3840480" y="41422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5715000" y="412394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1"/>
          <p:cNvSpPr/>
          <p:nvPr/>
        </p:nvSpPr>
        <p:spPr>
          <a:xfrm>
            <a:off x="5760720" y="41422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34" name="Shape 132"/>
          <p:cNvSpPr/>
          <p:nvPr/>
        </p:nvSpPr>
        <p:spPr>
          <a:xfrm>
            <a:off x="7635240" y="412394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3"/>
          <p:cNvSpPr/>
          <p:nvPr/>
        </p:nvSpPr>
        <p:spPr>
          <a:xfrm>
            <a:off x="7680960" y="41422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9555480" y="412394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5"/>
          <p:cNvSpPr/>
          <p:nvPr/>
        </p:nvSpPr>
        <p:spPr>
          <a:xfrm>
            <a:off x="9601200" y="41422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38" name="Shape 136"/>
          <p:cNvSpPr/>
          <p:nvPr/>
        </p:nvSpPr>
        <p:spPr>
          <a:xfrm>
            <a:off x="320040" y="4343400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39" name="Text 137"/>
          <p:cNvSpPr/>
          <p:nvPr/>
        </p:nvSpPr>
        <p:spPr>
          <a:xfrm>
            <a:off x="365760" y="43616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3794760" y="4343400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41" name="Text 139"/>
          <p:cNvSpPr/>
          <p:nvPr/>
        </p:nvSpPr>
        <p:spPr>
          <a:xfrm>
            <a:off x="3840480" y="43616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42" name="Shape 140"/>
          <p:cNvSpPr/>
          <p:nvPr/>
        </p:nvSpPr>
        <p:spPr>
          <a:xfrm>
            <a:off x="5715000" y="4343400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43" name="Text 141"/>
          <p:cNvSpPr/>
          <p:nvPr/>
        </p:nvSpPr>
        <p:spPr>
          <a:xfrm>
            <a:off x="5760720" y="43616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44" name="Shape 142"/>
          <p:cNvSpPr/>
          <p:nvPr/>
        </p:nvSpPr>
        <p:spPr>
          <a:xfrm>
            <a:off x="7635240" y="4343400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45" name="Text 143"/>
          <p:cNvSpPr/>
          <p:nvPr/>
        </p:nvSpPr>
        <p:spPr>
          <a:xfrm>
            <a:off x="7680960" y="43616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46" name="Shape 144"/>
          <p:cNvSpPr/>
          <p:nvPr/>
        </p:nvSpPr>
        <p:spPr>
          <a:xfrm>
            <a:off x="9555480" y="4343400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47" name="Text 145"/>
          <p:cNvSpPr/>
          <p:nvPr/>
        </p:nvSpPr>
        <p:spPr>
          <a:xfrm>
            <a:off x="9601200" y="43616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320040" y="4562856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" name="Text 147"/>
          <p:cNvSpPr/>
          <p:nvPr/>
        </p:nvSpPr>
        <p:spPr>
          <a:xfrm>
            <a:off x="365760" y="458114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Closure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3794760" y="4562856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9"/>
          <p:cNvSpPr/>
          <p:nvPr/>
        </p:nvSpPr>
        <p:spPr>
          <a:xfrm>
            <a:off x="3840480" y="45811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52" name="Shape 150"/>
          <p:cNvSpPr/>
          <p:nvPr/>
        </p:nvSpPr>
        <p:spPr>
          <a:xfrm>
            <a:off x="5715000" y="4562856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51"/>
          <p:cNvSpPr/>
          <p:nvPr/>
        </p:nvSpPr>
        <p:spPr>
          <a:xfrm>
            <a:off x="5760720" y="45811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54" name="Shape 152"/>
          <p:cNvSpPr/>
          <p:nvPr/>
        </p:nvSpPr>
        <p:spPr>
          <a:xfrm>
            <a:off x="7635240" y="4562856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3"/>
          <p:cNvSpPr/>
          <p:nvPr/>
        </p:nvSpPr>
        <p:spPr>
          <a:xfrm>
            <a:off x="7680960" y="45811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56" name="Shape 154"/>
          <p:cNvSpPr/>
          <p:nvPr/>
        </p:nvSpPr>
        <p:spPr>
          <a:xfrm>
            <a:off x="9555480" y="4562856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5"/>
          <p:cNvSpPr/>
          <p:nvPr/>
        </p:nvSpPr>
        <p:spPr>
          <a:xfrm>
            <a:off x="9601200" y="45811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58" name="Shape 156"/>
          <p:cNvSpPr/>
          <p:nvPr/>
        </p:nvSpPr>
        <p:spPr>
          <a:xfrm>
            <a:off x="320040" y="4782312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59" name="Text 157"/>
          <p:cNvSpPr/>
          <p:nvPr/>
        </p:nvSpPr>
        <p:spPr>
          <a:xfrm>
            <a:off x="365760" y="48006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 &amp; Audit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3794760" y="4782312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61" name="Text 159"/>
          <p:cNvSpPr/>
          <p:nvPr/>
        </p:nvSpPr>
        <p:spPr>
          <a:xfrm>
            <a:off x="3840480" y="4800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62" name="Shape 160"/>
          <p:cNvSpPr/>
          <p:nvPr/>
        </p:nvSpPr>
        <p:spPr>
          <a:xfrm>
            <a:off x="5715000" y="4782312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63" name="Text 161"/>
          <p:cNvSpPr/>
          <p:nvPr/>
        </p:nvSpPr>
        <p:spPr>
          <a:xfrm>
            <a:off x="5760720" y="4800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7635240" y="4782312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65" name="Text 163"/>
          <p:cNvSpPr/>
          <p:nvPr/>
        </p:nvSpPr>
        <p:spPr>
          <a:xfrm>
            <a:off x="7680960" y="4800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66" name="Shape 164"/>
          <p:cNvSpPr/>
          <p:nvPr/>
        </p:nvSpPr>
        <p:spPr>
          <a:xfrm>
            <a:off x="9555480" y="4782312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67" name="Text 165"/>
          <p:cNvSpPr/>
          <p:nvPr/>
        </p:nvSpPr>
        <p:spPr>
          <a:xfrm>
            <a:off x="9601200" y="4800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68" name="Shape 166"/>
          <p:cNvSpPr/>
          <p:nvPr/>
        </p:nvSpPr>
        <p:spPr>
          <a:xfrm>
            <a:off x="320040" y="5001768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Text 167"/>
          <p:cNvSpPr/>
          <p:nvPr/>
        </p:nvSpPr>
        <p:spPr>
          <a:xfrm>
            <a:off x="365760" y="502005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Report (CSV)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3794760" y="5001768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Text 169"/>
          <p:cNvSpPr/>
          <p:nvPr/>
        </p:nvSpPr>
        <p:spPr>
          <a:xfrm>
            <a:off x="3840480" y="50200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72" name="Shape 170"/>
          <p:cNvSpPr/>
          <p:nvPr/>
        </p:nvSpPr>
        <p:spPr>
          <a:xfrm>
            <a:off x="5715000" y="5001768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3" name="Text 171"/>
          <p:cNvSpPr/>
          <p:nvPr/>
        </p:nvSpPr>
        <p:spPr>
          <a:xfrm>
            <a:off x="5760720" y="50200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74" name="Shape 172"/>
          <p:cNvSpPr/>
          <p:nvPr/>
        </p:nvSpPr>
        <p:spPr>
          <a:xfrm>
            <a:off x="7635240" y="5001768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5" name="Text 173"/>
          <p:cNvSpPr/>
          <p:nvPr/>
        </p:nvSpPr>
        <p:spPr>
          <a:xfrm>
            <a:off x="7680960" y="50200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76" name="Shape 174"/>
          <p:cNvSpPr/>
          <p:nvPr/>
        </p:nvSpPr>
        <p:spPr>
          <a:xfrm>
            <a:off x="9555480" y="5001768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Text 175"/>
          <p:cNvSpPr/>
          <p:nvPr/>
        </p:nvSpPr>
        <p:spPr>
          <a:xfrm>
            <a:off x="9601200" y="50200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78" name="Shape 176"/>
          <p:cNvSpPr/>
          <p:nvPr/>
        </p:nvSpPr>
        <p:spPr>
          <a:xfrm>
            <a:off x="320040" y="5221224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79" name="Text 177"/>
          <p:cNvSpPr/>
          <p:nvPr/>
        </p:nvSpPr>
        <p:spPr>
          <a:xfrm>
            <a:off x="365760" y="523951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Report (CSV)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3794760" y="5221224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81" name="Text 179"/>
          <p:cNvSpPr/>
          <p:nvPr/>
        </p:nvSpPr>
        <p:spPr>
          <a:xfrm>
            <a:off x="3840480" y="5239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82" name="Shape 180"/>
          <p:cNvSpPr/>
          <p:nvPr/>
        </p:nvSpPr>
        <p:spPr>
          <a:xfrm>
            <a:off x="5715000" y="5221224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83" name="Text 181"/>
          <p:cNvSpPr/>
          <p:nvPr/>
        </p:nvSpPr>
        <p:spPr>
          <a:xfrm>
            <a:off x="5760720" y="5239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84" name="Shape 182"/>
          <p:cNvSpPr/>
          <p:nvPr/>
        </p:nvSpPr>
        <p:spPr>
          <a:xfrm>
            <a:off x="7635240" y="5221224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85" name="Text 183"/>
          <p:cNvSpPr/>
          <p:nvPr/>
        </p:nvSpPr>
        <p:spPr>
          <a:xfrm>
            <a:off x="7680960" y="5239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86" name="Shape 184"/>
          <p:cNvSpPr/>
          <p:nvPr/>
        </p:nvSpPr>
        <p:spPr>
          <a:xfrm>
            <a:off x="9555480" y="5221224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87" name="Text 185"/>
          <p:cNvSpPr/>
          <p:nvPr/>
        </p:nvSpPr>
        <p:spPr>
          <a:xfrm>
            <a:off x="9601200" y="52395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188" name="Shape 186"/>
          <p:cNvSpPr/>
          <p:nvPr/>
        </p:nvSpPr>
        <p:spPr>
          <a:xfrm>
            <a:off x="320040" y="5440680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9" name="Text 187"/>
          <p:cNvSpPr/>
          <p:nvPr/>
        </p:nvSpPr>
        <p:spPr>
          <a:xfrm>
            <a:off x="365760" y="54589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Case Report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3794760" y="5440680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1" name="Text 189"/>
          <p:cNvSpPr/>
          <p:nvPr/>
        </p:nvSpPr>
        <p:spPr>
          <a:xfrm>
            <a:off x="3840480" y="5458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92" name="Shape 190"/>
          <p:cNvSpPr/>
          <p:nvPr/>
        </p:nvSpPr>
        <p:spPr>
          <a:xfrm>
            <a:off x="5715000" y="5440680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Text 191"/>
          <p:cNvSpPr/>
          <p:nvPr/>
        </p:nvSpPr>
        <p:spPr>
          <a:xfrm>
            <a:off x="5760720" y="5458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94" name="Shape 192"/>
          <p:cNvSpPr/>
          <p:nvPr/>
        </p:nvSpPr>
        <p:spPr>
          <a:xfrm>
            <a:off x="7635240" y="5440680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5" name="Text 193"/>
          <p:cNvSpPr/>
          <p:nvPr/>
        </p:nvSpPr>
        <p:spPr>
          <a:xfrm>
            <a:off x="7680960" y="5458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96" name="Shape 194"/>
          <p:cNvSpPr/>
          <p:nvPr/>
        </p:nvSpPr>
        <p:spPr>
          <a:xfrm>
            <a:off x="9555480" y="5440680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7" name="Text 195"/>
          <p:cNvSpPr/>
          <p:nvPr/>
        </p:nvSpPr>
        <p:spPr>
          <a:xfrm>
            <a:off x="9601200" y="54589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198" name="Shape 196"/>
          <p:cNvSpPr/>
          <p:nvPr/>
        </p:nvSpPr>
        <p:spPr>
          <a:xfrm>
            <a:off x="320040" y="5660136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99" name="Text 197"/>
          <p:cNvSpPr/>
          <p:nvPr/>
        </p:nvSpPr>
        <p:spPr>
          <a:xfrm>
            <a:off x="365760" y="567842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Alerts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3794760" y="5660136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01" name="Text 199"/>
          <p:cNvSpPr/>
          <p:nvPr/>
        </p:nvSpPr>
        <p:spPr>
          <a:xfrm>
            <a:off x="3840480" y="56784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02" name="Shape 200"/>
          <p:cNvSpPr/>
          <p:nvPr/>
        </p:nvSpPr>
        <p:spPr>
          <a:xfrm>
            <a:off x="5715000" y="5660136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03" name="Text 201"/>
          <p:cNvSpPr/>
          <p:nvPr/>
        </p:nvSpPr>
        <p:spPr>
          <a:xfrm>
            <a:off x="5760720" y="56784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04" name="Shape 202"/>
          <p:cNvSpPr/>
          <p:nvPr/>
        </p:nvSpPr>
        <p:spPr>
          <a:xfrm>
            <a:off x="7635240" y="5660136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05" name="Text 203"/>
          <p:cNvSpPr/>
          <p:nvPr/>
        </p:nvSpPr>
        <p:spPr>
          <a:xfrm>
            <a:off x="7680960" y="56784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06" name="Shape 204"/>
          <p:cNvSpPr/>
          <p:nvPr/>
        </p:nvSpPr>
        <p:spPr>
          <a:xfrm>
            <a:off x="9555480" y="5660136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07" name="Text 205"/>
          <p:cNvSpPr/>
          <p:nvPr/>
        </p:nvSpPr>
        <p:spPr>
          <a:xfrm>
            <a:off x="9601200" y="567842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08" name="Shape 206"/>
          <p:cNvSpPr/>
          <p:nvPr/>
        </p:nvSpPr>
        <p:spPr>
          <a:xfrm>
            <a:off x="320040" y="5879592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9" name="Text 207"/>
          <p:cNvSpPr/>
          <p:nvPr/>
        </p:nvSpPr>
        <p:spPr>
          <a:xfrm>
            <a:off x="365760" y="58978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000" dirty="0"/>
          </a:p>
        </p:txBody>
      </p:sp>
      <p:sp>
        <p:nvSpPr>
          <p:cNvPr id="210" name="Shape 208"/>
          <p:cNvSpPr/>
          <p:nvPr/>
        </p:nvSpPr>
        <p:spPr>
          <a:xfrm>
            <a:off x="3794760" y="5879592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1" name="Text 209"/>
          <p:cNvSpPr/>
          <p:nvPr/>
        </p:nvSpPr>
        <p:spPr>
          <a:xfrm>
            <a:off x="3840480" y="5897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12" name="Shape 210"/>
          <p:cNvSpPr/>
          <p:nvPr/>
        </p:nvSpPr>
        <p:spPr>
          <a:xfrm>
            <a:off x="5715000" y="5879592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Text 211"/>
          <p:cNvSpPr/>
          <p:nvPr/>
        </p:nvSpPr>
        <p:spPr>
          <a:xfrm>
            <a:off x="5760720" y="5897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14" name="Shape 212"/>
          <p:cNvSpPr/>
          <p:nvPr/>
        </p:nvSpPr>
        <p:spPr>
          <a:xfrm>
            <a:off x="7635240" y="5879592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5" name="Text 213"/>
          <p:cNvSpPr/>
          <p:nvPr/>
        </p:nvSpPr>
        <p:spPr>
          <a:xfrm>
            <a:off x="7680960" y="5897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16" name="Shape 214"/>
          <p:cNvSpPr/>
          <p:nvPr/>
        </p:nvSpPr>
        <p:spPr>
          <a:xfrm>
            <a:off x="9555480" y="5879592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7" name="Text 215"/>
          <p:cNvSpPr/>
          <p:nvPr/>
        </p:nvSpPr>
        <p:spPr>
          <a:xfrm>
            <a:off x="9601200" y="5897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18" name="Shape 216"/>
          <p:cNvSpPr/>
          <p:nvPr/>
        </p:nvSpPr>
        <p:spPr>
          <a:xfrm>
            <a:off x="320040" y="6099048"/>
            <a:ext cx="347472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19" name="Text 217"/>
          <p:cNvSpPr/>
          <p:nvPr/>
        </p:nvSpPr>
        <p:spPr>
          <a:xfrm>
            <a:off x="365760" y="61173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Management</a:t>
            </a:r>
            <a:endParaRPr lang="en-US" sz="1000" dirty="0"/>
          </a:p>
        </p:txBody>
      </p:sp>
      <p:sp>
        <p:nvSpPr>
          <p:cNvPr id="220" name="Shape 218"/>
          <p:cNvSpPr/>
          <p:nvPr/>
        </p:nvSpPr>
        <p:spPr>
          <a:xfrm>
            <a:off x="3794760" y="609904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21" name="Text 219"/>
          <p:cNvSpPr/>
          <p:nvPr/>
        </p:nvSpPr>
        <p:spPr>
          <a:xfrm>
            <a:off x="3840480" y="61173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22" name="Shape 220"/>
          <p:cNvSpPr/>
          <p:nvPr/>
        </p:nvSpPr>
        <p:spPr>
          <a:xfrm>
            <a:off x="5715000" y="609904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23" name="Text 221"/>
          <p:cNvSpPr/>
          <p:nvPr/>
        </p:nvSpPr>
        <p:spPr>
          <a:xfrm>
            <a:off x="5760720" y="61173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24" name="Shape 222"/>
          <p:cNvSpPr/>
          <p:nvPr/>
        </p:nvSpPr>
        <p:spPr>
          <a:xfrm>
            <a:off x="7635240" y="609904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25" name="Text 223"/>
          <p:cNvSpPr/>
          <p:nvPr/>
        </p:nvSpPr>
        <p:spPr>
          <a:xfrm>
            <a:off x="7680960" y="61173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26" name="Shape 224"/>
          <p:cNvSpPr/>
          <p:nvPr/>
        </p:nvSpPr>
        <p:spPr>
          <a:xfrm>
            <a:off x="9555480" y="6099048"/>
            <a:ext cx="1920240" cy="219456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27" name="Text 225"/>
          <p:cNvSpPr/>
          <p:nvPr/>
        </p:nvSpPr>
        <p:spPr>
          <a:xfrm>
            <a:off x="9601200" y="61173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28" name="Shape 226"/>
          <p:cNvSpPr/>
          <p:nvPr/>
        </p:nvSpPr>
        <p:spPr>
          <a:xfrm>
            <a:off x="320040" y="6318504"/>
            <a:ext cx="34747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9" name="Text 227"/>
          <p:cNvSpPr/>
          <p:nvPr/>
        </p:nvSpPr>
        <p:spPr>
          <a:xfrm>
            <a:off x="365760" y="63367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Management</a:t>
            </a:r>
            <a:endParaRPr lang="en-US" sz="1000" dirty="0"/>
          </a:p>
        </p:txBody>
      </p:sp>
      <p:sp>
        <p:nvSpPr>
          <p:cNvPr id="230" name="Shape 228"/>
          <p:cNvSpPr/>
          <p:nvPr/>
        </p:nvSpPr>
        <p:spPr>
          <a:xfrm>
            <a:off x="3794760" y="631850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1" name="Text 229"/>
          <p:cNvSpPr/>
          <p:nvPr/>
        </p:nvSpPr>
        <p:spPr>
          <a:xfrm>
            <a:off x="3840480" y="63367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50" dirty="0"/>
          </a:p>
        </p:txBody>
      </p:sp>
      <p:sp>
        <p:nvSpPr>
          <p:cNvPr id="232" name="Shape 230"/>
          <p:cNvSpPr/>
          <p:nvPr/>
        </p:nvSpPr>
        <p:spPr>
          <a:xfrm>
            <a:off x="5715000" y="631850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3" name="Text 231"/>
          <p:cNvSpPr/>
          <p:nvPr/>
        </p:nvSpPr>
        <p:spPr>
          <a:xfrm>
            <a:off x="5760720" y="63367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34" name="Shape 232"/>
          <p:cNvSpPr/>
          <p:nvPr/>
        </p:nvSpPr>
        <p:spPr>
          <a:xfrm>
            <a:off x="7635240" y="631850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5" name="Text 233"/>
          <p:cNvSpPr/>
          <p:nvPr/>
        </p:nvSpPr>
        <p:spPr>
          <a:xfrm>
            <a:off x="7680960" y="63367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  <p:sp>
        <p:nvSpPr>
          <p:cNvPr id="236" name="Shape 234"/>
          <p:cNvSpPr/>
          <p:nvPr/>
        </p:nvSpPr>
        <p:spPr>
          <a:xfrm>
            <a:off x="9555480" y="6318504"/>
            <a:ext cx="1920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7" name="Text 235"/>
          <p:cNvSpPr/>
          <p:nvPr/>
        </p:nvSpPr>
        <p:spPr>
          <a:xfrm>
            <a:off x="9601200" y="63367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Status 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94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User Manual | v1.0 | June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789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95A5A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6984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0" y="106984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but not started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25730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2847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27558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DataEntryInProgress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127558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ongoing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46304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14904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4AC0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48132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ValidityPending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0" y="148132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under 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166878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16962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168706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InvalidFollowUpRequired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0" y="168706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Invalid; follow-up needed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187452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19019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8E44AD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189280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DuplicateCheckPending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0" y="189280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duplicate check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08026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21076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E86C1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09854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PvAssociateChecklistPending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0" y="209854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Assoc completing checklist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228600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23134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230428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SubmittedToPvManager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0" y="230428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PV Manager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249174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" y="25191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E8449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251002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PvManagerReviewPending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0" y="251002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Manager reviewing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269748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" y="27249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E8449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271576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PvManagerChecklistPending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00400" y="271576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Mgr checklist in progress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290322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365760" y="29306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292150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ReturnedByPvManager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00400" y="292150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PV Associate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10896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48" name="Shape 46"/>
          <p:cNvSpPr/>
          <p:nvPr/>
        </p:nvSpPr>
        <p:spPr>
          <a:xfrm>
            <a:off x="365760" y="31363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E86C1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312724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ResubmittedToPvManager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00400" y="312724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Resubmitted after corrections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331470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365760" y="33421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4AC0D"/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" y="333298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ForwardedToMedicalReviewer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200400" y="333298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for medical review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352044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56" name="Shape 54"/>
          <p:cNvSpPr/>
          <p:nvPr/>
        </p:nvSpPr>
        <p:spPr>
          <a:xfrm>
            <a:off x="365760" y="35478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4AC0D"/>
          </a:solidFill>
          <a:ln/>
        </p:spPr>
      </p:sp>
      <p:sp>
        <p:nvSpPr>
          <p:cNvPr id="57" name="Text 55"/>
          <p:cNvSpPr/>
          <p:nvPr/>
        </p:nvSpPr>
        <p:spPr>
          <a:xfrm>
            <a:off x="594360" y="353872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MedicalReviewPending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200400" y="353872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Reviewer reviewing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63640" y="105156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60" name="Shape 58"/>
          <p:cNvSpPr/>
          <p:nvPr/>
        </p:nvSpPr>
        <p:spPr>
          <a:xfrm>
            <a:off x="6309360" y="10789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4AC0D"/>
          </a:solidFill>
          <a:ln/>
        </p:spPr>
      </p:sp>
      <p:sp>
        <p:nvSpPr>
          <p:cNvPr id="61" name="Text 59"/>
          <p:cNvSpPr/>
          <p:nvPr/>
        </p:nvSpPr>
        <p:spPr>
          <a:xfrm>
            <a:off x="6537960" y="106984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MedicalReviewerChecklistPending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144000" y="106984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Med.Rev checklist in progress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63640" y="125730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6309360" y="12847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/>
        </p:spPr>
      </p:sp>
      <p:sp>
        <p:nvSpPr>
          <p:cNvPr id="65" name="Text 63"/>
          <p:cNvSpPr/>
          <p:nvPr/>
        </p:nvSpPr>
        <p:spPr>
          <a:xfrm>
            <a:off x="6537960" y="127558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ReturnedByMedicalReviewer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144000" y="127558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PV Manager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63640" y="146304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68" name="Shape 66"/>
          <p:cNvSpPr/>
          <p:nvPr/>
        </p:nvSpPr>
        <p:spPr>
          <a:xfrm>
            <a:off x="6309360" y="14904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E8449"/>
          </a:solidFill>
          <a:ln/>
        </p:spPr>
      </p:sp>
      <p:sp>
        <p:nvSpPr>
          <p:cNvPr id="69" name="Text 67"/>
          <p:cNvSpPr/>
          <p:nvPr/>
        </p:nvSpPr>
        <p:spPr>
          <a:xfrm>
            <a:off x="6537960" y="148132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MedicallyApproved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9144000" y="148132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Medically approved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263640" y="166878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6309360" y="16962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E8449"/>
          </a:solidFill>
          <a:ln/>
        </p:spPr>
      </p:sp>
      <p:sp>
        <p:nvSpPr>
          <p:cNvPr id="73" name="Text 71"/>
          <p:cNvSpPr/>
          <p:nvPr/>
        </p:nvSpPr>
        <p:spPr>
          <a:xfrm>
            <a:off x="6537960" y="168706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CaseFinalized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144000" y="168706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Finalized, ready for submission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263640" y="187452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76" name="Shape 74"/>
          <p:cNvSpPr/>
          <p:nvPr/>
        </p:nvSpPr>
        <p:spPr>
          <a:xfrm>
            <a:off x="6309360" y="19019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/>
        </p:spPr>
      </p:sp>
      <p:sp>
        <p:nvSpPr>
          <p:cNvPr id="77" name="Text 75"/>
          <p:cNvSpPr/>
          <p:nvPr/>
        </p:nvSpPr>
        <p:spPr>
          <a:xfrm>
            <a:off x="6537960" y="189280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SubmissionPending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144000" y="189280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 pending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263640" y="208026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6309360" y="21076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E8449"/>
          </a:solidFill>
          <a:ln/>
        </p:spPr>
      </p:sp>
      <p:sp>
        <p:nvSpPr>
          <p:cNvPr id="81" name="Text 79"/>
          <p:cNvSpPr/>
          <p:nvPr/>
        </p:nvSpPr>
        <p:spPr>
          <a:xfrm>
            <a:off x="6537960" y="209854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9144000" y="209854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authority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63640" y="228600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84" name="Shape 82"/>
          <p:cNvSpPr/>
          <p:nvPr/>
        </p:nvSpPr>
        <p:spPr>
          <a:xfrm>
            <a:off x="6309360" y="23134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4AC0D"/>
          </a:solidFill>
          <a:ln/>
        </p:spPr>
      </p:sp>
      <p:sp>
        <p:nvSpPr>
          <p:cNvPr id="85" name="Text 83"/>
          <p:cNvSpPr/>
          <p:nvPr/>
        </p:nvSpPr>
        <p:spPr>
          <a:xfrm>
            <a:off x="6537960" y="230428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AcknowledgementPending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9144000" y="230428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authority ack.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263640" y="249174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6309360" y="25191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B3A6B"/>
          </a:solidFill>
          <a:ln/>
        </p:spPr>
      </p:sp>
      <p:sp>
        <p:nvSpPr>
          <p:cNvPr id="89" name="Text 87"/>
          <p:cNvSpPr/>
          <p:nvPr/>
        </p:nvSpPr>
        <p:spPr>
          <a:xfrm>
            <a:off x="6537960" y="251002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CaseClosed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9144000" y="251002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closed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263640" y="269748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92" name="Shape 90"/>
          <p:cNvSpPr/>
          <p:nvPr/>
        </p:nvSpPr>
        <p:spPr>
          <a:xfrm>
            <a:off x="6309360" y="27249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/>
        </p:spPr>
      </p:sp>
      <p:sp>
        <p:nvSpPr>
          <p:cNvPr id="93" name="Text 91"/>
          <p:cNvSpPr/>
          <p:nvPr/>
        </p:nvSpPr>
        <p:spPr>
          <a:xfrm>
            <a:off x="6537960" y="271576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144000" y="271576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closed, reopened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263640" y="290322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94"/>
          <p:cNvSpPr/>
          <p:nvPr/>
        </p:nvSpPr>
        <p:spPr>
          <a:xfrm>
            <a:off x="6309360" y="29306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7F8C8D"/>
          </a:solidFill>
          <a:ln/>
        </p:spPr>
      </p:sp>
      <p:sp>
        <p:nvSpPr>
          <p:cNvPr id="97" name="Text 95"/>
          <p:cNvSpPr/>
          <p:nvPr/>
        </p:nvSpPr>
        <p:spPr>
          <a:xfrm>
            <a:off x="6537960" y="292150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MarkedAsDuplicate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9144000" y="292150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as duplicate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263640" y="3108960"/>
            <a:ext cx="5760720" cy="205740"/>
          </a:xfrm>
          <a:prstGeom prst="rect">
            <a:avLst/>
          </a:prstGeom>
          <a:solidFill>
            <a:srgbClr val="F2F3F4"/>
          </a:solidFill>
          <a:ln/>
        </p:spPr>
      </p:sp>
      <p:sp>
        <p:nvSpPr>
          <p:cNvPr id="100" name="Shape 98"/>
          <p:cNvSpPr/>
          <p:nvPr/>
        </p:nvSpPr>
        <p:spPr>
          <a:xfrm>
            <a:off x="6309360" y="31363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7F8C8D"/>
          </a:solidFill>
          <a:ln/>
        </p:spPr>
      </p:sp>
      <p:sp>
        <p:nvSpPr>
          <p:cNvPr id="101" name="Text 99"/>
          <p:cNvSpPr/>
          <p:nvPr/>
        </p:nvSpPr>
        <p:spPr>
          <a:xfrm>
            <a:off x="6537960" y="312724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MarkedAsInvalid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9144000" y="312724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invalid &amp; archived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263640" y="3314700"/>
            <a:ext cx="5760720" cy="205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309360" y="334213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7F8C8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537960" y="3332988"/>
            <a:ext cx="25603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OnHold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144000" y="333298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on hold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InnoPV – Pharmacovigilance Case Management System |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– Summary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User Roles: Admin, PV Associate, PV Manager, Medical Reviewer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13+ Controllers covering the full PV case lifecycle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26 Case statuses from Draft to Closed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Quality checklists (one per role/stage)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33832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audit trail &amp; workflow comments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38404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Reports: CSV export, PDF/Word/Excel complete case reports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2976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alert emails for due-soon &amp; overdue cases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7548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panel: Users, Master Data, Checklists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2026-06-01T19:57:47Z</dcterms:created>
  <dcterms:modified xsi:type="dcterms:W3CDTF">2026-06-01T19:57:47Z</dcterms:modified>
</cp:coreProperties>
</file>